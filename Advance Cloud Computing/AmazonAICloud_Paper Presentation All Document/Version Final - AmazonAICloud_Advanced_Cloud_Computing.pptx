
<file path=[Content_Types].xml><?xml version="1.0" encoding="utf-8"?>
<Types xmlns="http://schemas.openxmlformats.org/package/2006/content-types">
  <Default Extension="png" ContentType="image/png"/>
  <Default Extension="m4a" ContentType="audio/mp4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78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82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810" autoAdjust="0"/>
  </p:normalViewPr>
  <p:slideViewPr>
    <p:cSldViewPr snapToGrid="0" snapToObjects="1">
      <p:cViewPr varScale="1">
        <p:scale>
          <a:sx n="53" d="100"/>
          <a:sy n="53" d="100"/>
        </p:scale>
        <p:origin x="139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405E65-51E9-486C-A341-82ED2F61B53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E5A80-A43D-4BF9-B5AA-46E3E20AC5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363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01 - Title Slide</a:t>
            </a:r>
            <a:endParaRPr lang="en-US" b="1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“Good morning everyone.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Respected teacher and my dear classmates,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Assalamu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Alaikum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Today, our group will present a research paper titled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AmazonAICloud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Proactive Resource Allocation Using 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Based Time Series Model for Sustainable Cloud Computing.’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research focuses on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predicting future cloud resource demand and allocating resources more efficiently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am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Mumtahina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Mehjabin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 will begin with the abstract, introduction, and motivation.”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7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02 - Overview / Table of Contents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is the overall structure of our presentation.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30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03 - Abstract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“Now, coming to the abstract.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resource demand changes continuously, so reactive scaling may respond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workload changes occur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solve this problem, the framework uses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pretrained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time-series forecasting model, to predict future CPU utilization.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study uses the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Bitbrains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GWA-T-12 dataset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containing traces from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1,750 virtual machines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forecasts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future time steps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compared with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ARIMA, LSTM, and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MAE, MSE, and MAPE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 well as computational time.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finding is that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achieved the best reported forecasting error values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19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04 - Introduction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“Now let's look at the introduction.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workloads are dynamic, meaning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CPU and memory demands continuously change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too many resources are allocated, it causes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over-provisioning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leading to wasted resources, cost, and energy.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too few resources are allocated, it causes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under-provisioning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can reduce application performance and affect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SLA requirements.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cloud systems need to balance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performance, resource utilization, and efficiency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860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05 - Motivation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brings us to the main motivation.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Traditional cloud management is usually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reactive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it observes the workload, detects a threshold, and then scales resources.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scaling may happen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a workload spike has already occurred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Proactive management takes a different approach: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 the past, forecast the future, and prepare resources in advance.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the main research question is: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accurate forecasting improve cloud resource-allocation decisions?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investigate this, the researchers use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future CPU prediction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Now, I would like to hand over the presentation to our team leader,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Md. Dulal Hossain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742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06 - Research Contributions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“Thank you,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Mumtahina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I will discuss the main research contributions.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the study introduces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forecast-driven resource allocation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proactive provisioning.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it uses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pretrained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time-series model.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Third, the workload is analyzed using the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KPSS 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especially for non-stationarity.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Fourth,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compared with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ARIMA, LSTM, and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the experiment uses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SageMaker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connects forecasting with more efficient and sustainable cloud resource management.”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226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07 - Research Objectives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study has several important objectives.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to forecast future CPU utilization using historical VM workload data.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to examine whether the workload is non-stationary using the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KPSS 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Third, to evaluate Amazon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cloud resource-demand forecasting.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Fourth, to compare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ARIMA, LSTM, and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Fifth, to measure forecasting performance using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MAE, MSE, and MAPE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finally, to compare the computational efficiency of the models through their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and inference times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65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08 - Research Gap &amp; Findings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“Now, let's look at the research gap.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Reactive scaling responds after workload changes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traditional models may struggle with dynamic and non-stationary workloads.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 deep-learning models can also require significant training time.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address these gaps, the study uses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pretrained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real VM workload traces, and comparisons with established models. Its forecasts can then support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proactive resource provisioning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1804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09 - Methodology Overview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methodology follows six main steps: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collect VM workload data.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preprocess the data.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perform the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KPSS 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Fourth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configure the forecasting models.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Fifth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predict future CPU utilization. And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sixth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evaluate accuracy and computational performance.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provides evidence for using forecasting in proactive resource allocation.”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10 - System Architecture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slide shows the system architecture.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Historical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VM CPU data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first processed and then provided to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predicts future workload demand, and the forecast is passed to the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manager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manager can then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provision or de-provision resources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based on predicted demand.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feedback loop continuously adds actual utilization as new historical data.”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358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56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12 - Dataset Description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study uses the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Bitbrains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GWA-T-12 cloud workload dataset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contains traces from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1,750 virtual machines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collected from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July 1 to October 1, 2013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main variables include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CPU usage, CPU provisioned, CPU cores, memory usage, and memory provisioned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data help analyze changing workload demand and resource utilization.”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97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13 - 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Algorithm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“Finally, let's look at the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algorithm.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Historical CPU data is first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scaled and tokenized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into discrete representations.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performs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autoregressive forecasting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generates multiple forecast samples.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samples are converted back into numerical CPU values.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experiment, the researchers use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Tiny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forecast samples and a 30-step prediction length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that, I hand over the presentation to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Bipro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who will discuss the equations, experimental setup, and results.”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6572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14 - Equations &amp; Evaluation Metrics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“Thank you, Dulal.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slide presents the three evaluation metrics: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MAE, MSE, and MAPE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measures the average prediction error,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gives more importance to larger errors, and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measures error in percentage.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all three metrics,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 values mean better performance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39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15 - Experimental Setup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experiments were conducted using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SageMaker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Jupyter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Notebook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an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ml.t3.large CPU instance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models predict the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 30 time steps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historical CPU utilization.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 models were compared: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ARIMA, LSTM,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Tiny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forecasting accuracy and computational efficiency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were evaluated.”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07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16 - Results: Forecast Accuracy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“Now let's look at the forecasting results.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 achieved MAE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13.825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LSTM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8.217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15.852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achieved the lowest MAE of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6.332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MSE,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achieved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91.390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for MAPE,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6.450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were also the lowest.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achieved the best overall forecasting accuracy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this experiment.”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2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Slide 17 - Computational Efficiency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“Accuracy is important, but computational efficiency also matters.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the fastest, with only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0.03 seconds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training time.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LSTM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took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40.8 seconds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562 seconds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324 seconds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ARIMA was faster,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provided significantly better forecasting accuracy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Compared with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required less training time. Now I will hand it over to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Sheikh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Mehedi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Hasan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3088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18 - Result Analysis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“Thank you,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Bipro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results show that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achieved the lowest MAE, MSE, and MAPE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making it the strongest overall model.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 was the fastest, while LSTM and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showed higher errors or computational costs.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provides the best balance between accuracy and computational practicality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617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19 - Discussion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results have several practical implications.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 forecasting can give cloud managers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early information about future resource demand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can support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proactive provisioning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potentially reduce unnecessary resource allocation.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pretrained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it can also simplify the adoption of forecasting models.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accurate forecasting alone is not enough; effective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scaling and resource-management policies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still required.”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4439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20 - Limitations &amp; Conclusion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“There are some limitations.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study mainly evaluates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forecasting performance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direct energy and carbon reductions were not measured.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Also, better forecasting does not automatically guarantee better resource allocation.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real-world deployment requires suitable scaling policies and validation.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main message is simple: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‘Predict first, allocate smarter.’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669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21 - Future Work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“For future work, researchers can explore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hybrid ML models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real-time cloud workload integration, and larger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can also use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Generative AI for workload simulation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directly optimize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energy and carbon emissions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Explainable AI and SLA-aware resource management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improve practical deployment.”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6331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22 - References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slide presents the main reference used in our presentation.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AmazonAICloud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Proactive Resource Allocation Using 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Based Time Series Model for Sustainable Cloud Computing,’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published in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Volume 107, Article 77, in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2025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843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23 - Thank You / Q&amp;A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brings us to the end of our presentation.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summary,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provide accurate workload forecasting to support proactive cloud resource management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very much for your attention.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are now ready for your questions.”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480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1311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24 - Final Closing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“Finally, thank you everyone for listening.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hope our presentation provided a clear understanding of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Chronos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workload forecasting, proactive resource allocation, and sustainable cloud computing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are happy to take your questions.</a:t>
            </a: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you.”</a:t>
            </a:r>
            <a:endParaRPr lang="en-US" b="0" dirty="0">
              <a:effectLst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1E5A80-A43D-4BF9-B5AA-46E3E20AC59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29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3.m4a"/><Relationship Id="rId1" Type="http://schemas.microsoft.com/office/2007/relationships/media" Target="../media/media13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5.m4a"/><Relationship Id="rId1" Type="http://schemas.microsoft.com/office/2007/relationships/media" Target="../media/media15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6.m4a"/><Relationship Id="rId1" Type="http://schemas.microsoft.com/office/2007/relationships/media" Target="../media/media16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7.m4a"/><Relationship Id="rId1" Type="http://schemas.microsoft.com/office/2007/relationships/media" Target="../media/media17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8.m4a"/><Relationship Id="rId1" Type="http://schemas.microsoft.com/office/2007/relationships/media" Target="../media/media18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9.m4a"/><Relationship Id="rId1" Type="http://schemas.microsoft.com/office/2007/relationships/media" Target="../media/media19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0.m4a"/><Relationship Id="rId1" Type="http://schemas.microsoft.com/office/2007/relationships/media" Target="../media/media20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1.m4a"/><Relationship Id="rId1" Type="http://schemas.microsoft.com/office/2007/relationships/media" Target="../media/media21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2.m4a"/><Relationship Id="rId1" Type="http://schemas.microsoft.com/office/2007/relationships/media" Target="../media/media22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3.m4a"/><Relationship Id="rId1" Type="http://schemas.microsoft.com/office/2007/relationships/media" Target="../media/media23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4.m4a"/><Relationship Id="rId1" Type="http://schemas.microsoft.com/office/2007/relationships/media" Target="../media/media24.m4a"/><Relationship Id="rId6" Type="http://schemas.openxmlformats.org/officeDocument/2006/relationships/image" Target="../media/image2.png"/><Relationship Id="rId5" Type="http://schemas.openxmlformats.org/officeDocument/2006/relationships/image" Target="../media/image4.gif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1420854"/>
            <a:ext cx="1219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28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2800" b="1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28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  <a:endParaRPr sz="2800" b="1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3395601"/>
            <a:ext cx="4405418" cy="252259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3356863"/>
            <a:ext cx="82296" cy="267861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0976" y="3395601"/>
            <a:ext cx="29260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By,</a:t>
            </a:r>
            <a:endParaRPr sz="28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481289" y="3395601"/>
            <a:ext cx="2852774" cy="252259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81289" y="3356864"/>
            <a:ext cx="73152" cy="261414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00236" y="3483268"/>
            <a:ext cx="29260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To,</a:t>
            </a:r>
            <a:endParaRPr sz="2800" b="1" dirty="0">
              <a:solidFill>
                <a:srgbClr val="EA58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00236" y="4003862"/>
            <a:ext cx="317179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Md. Abu </a:t>
            </a:r>
            <a:r>
              <a:rPr lang="en-US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Layek</a:t>
            </a:r>
            <a:endParaRPr lang="en-US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Professor and Chairman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>
              <a:spcAft>
                <a:spcPts val="600"/>
              </a:spcAft>
            </a:pPr>
            <a:r>
              <a:rPr lang="en-US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Jagannath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University</a:t>
            </a:r>
            <a:endParaRPr b="0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352A225-2785-246E-52A1-5182696B7C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2658" y="146304"/>
            <a:ext cx="1319742" cy="1198350"/>
          </a:xfrm>
          <a:prstGeom prst="rect">
            <a:avLst/>
          </a:prstGeom>
        </p:spPr>
      </p:pic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988466"/>
              </p:ext>
            </p:extLst>
          </p:nvPr>
        </p:nvGraphicFramePr>
        <p:xfrm>
          <a:off x="1005331" y="3951056"/>
          <a:ext cx="4618721" cy="1828800"/>
        </p:xfrm>
        <a:graphic>
          <a:graphicData uri="http://schemas.openxmlformats.org/drawingml/2006/table">
            <a:tbl>
              <a:tblPr/>
              <a:tblGrid>
                <a:gridCol w="2828754">
                  <a:extLst>
                    <a:ext uri="{9D8B030D-6E8A-4147-A177-3AD203B41FA5}">
                      <a16:colId xmlns:a16="http://schemas.microsoft.com/office/drawing/2014/main" val="4010583237"/>
                    </a:ext>
                  </a:extLst>
                </a:gridCol>
                <a:gridCol w="1789967">
                  <a:extLst>
                    <a:ext uri="{9D8B030D-6E8A-4147-A177-3AD203B41FA5}">
                      <a16:colId xmlns:a16="http://schemas.microsoft.com/office/drawing/2014/main" val="5188501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13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Md. Dulal Hossain (Leader)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M260205002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40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Bipro</a:t>
                      </a:r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Roy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M260205041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83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Sheikh </a:t>
                      </a:r>
                      <a:r>
                        <a:rPr lang="en-US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Mehedi</a:t>
                      </a:r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Hasan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M260205029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1799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Mumtahina</a:t>
                      </a:r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Mehjabin</a:t>
                      </a:r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M260205019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22476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076700" y="2467228"/>
            <a:ext cx="37719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 Cloud Computing </a:t>
            </a:r>
          </a:p>
          <a:p>
            <a:pPr algn="ctr"/>
            <a:r>
              <a:rPr lang="en-US" sz="16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Summer 2026 </a:t>
            </a:r>
          </a:p>
          <a:p>
            <a:pPr algn="ctr"/>
            <a:r>
              <a:rPr lang="en-US" sz="16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MSc Professional</a:t>
            </a:r>
            <a:endParaRPr sz="1600" b="1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5CA872-BCE0-EEE6-DA53-E51C92D0C57A}"/>
              </a:ext>
            </a:extLst>
          </p:cNvPr>
          <p:cNvSpPr txBox="1"/>
          <p:nvPr/>
        </p:nvSpPr>
        <p:spPr>
          <a:xfrm>
            <a:off x="5328453" y="4241401"/>
            <a:ext cx="3007041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Name: Green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Number: 06</a:t>
            </a: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64"/>
    </mc:Choice>
    <mc:Fallback xmlns="">
      <p:transition spd="slow" advTm="70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107" y="1310254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complete research-paper presentation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889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77240" y="192889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8408" y="203862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99" y="2080801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 &amp; </a:t>
            </a:r>
            <a:r>
              <a:rPr lang="en-US"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sz="2000" b="1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09360" y="192889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09360" y="1928894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10527" y="203862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045221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r>
              <a:rPr lang="en-US"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Objectives</a:t>
            </a:r>
            <a:endParaRPr sz="2000" b="1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7240" y="275185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77240" y="2751854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78408" y="286158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6688" y="2887117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Contributions </a:t>
            </a:r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Research Gap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5185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9360" y="275185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10527" y="286158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881608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&amp; Architecture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57481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77240" y="3574814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78408" y="368454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6688" y="3711770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Dataset, Algorithm &amp; Equations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57481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309360" y="3574814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10527" y="368454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4820" y="3668997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39777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77240" y="439777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78408" y="450750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599" y="4507502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Result Analysis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39777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309360" y="4397774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10527" y="450750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4820" y="4519985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 &amp; Limitations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22073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77240" y="5220734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78408" y="533046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6688" y="5303234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5220734"/>
            <a:ext cx="51663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309360" y="5220734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510527" y="533046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5308698"/>
            <a:ext cx="48188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&amp; Q&amp;A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pic>
        <p:nvPicPr>
          <p:cNvPr id="49" name="Audio 48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09"/>
    </mc:Choice>
    <mc:Fallback xmlns="">
      <p:transition spd="slow" advTm="31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9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01 Introduction: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23914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→ proposed approach → evaluation →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4620"/>
            <a:ext cx="6903720" cy="42519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85800" y="1994620"/>
            <a:ext cx="73152" cy="4251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8304" y="2267694"/>
            <a:ext cx="655624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 resource demand changes continuously. Reactive scaling may allocate resources after workload changes have already occurred.
</a:t>
            </a:r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Amazon Chronos, a pretrained time-series forecasting model, to predict future CPU utilization and support proactive provisioning.
The study evaluates the approach using </a:t>
            </a:r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Bitbrains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GWA-T-12 traces and compares Chronos with ARIMA, LSTM and </a:t>
            </a:r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using MAE, MSE, MAPE, training time and inference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645920"/>
            <a:ext cx="352044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09560" y="1645920"/>
            <a:ext cx="73152" cy="1143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110728" y="175564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0728" y="2121408"/>
            <a:ext cx="3172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1,750 virtual machines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017520"/>
            <a:ext cx="352044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09560" y="3017520"/>
            <a:ext cx="73152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10728" y="312724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3493008"/>
            <a:ext cx="3172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30 future time steps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4389120"/>
            <a:ext cx="352044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909560" y="438912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10728" y="449884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4864608"/>
            <a:ext cx="31729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 achieved the best reported error values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pic>
        <p:nvPicPr>
          <p:cNvPr id="10" name="Audio 9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27"/>
    </mc:Choice>
    <mc:Fallback xmlns="">
      <p:transition spd="slow" advTm="2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66254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 resource management must balance performance and 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67512" y="2169027"/>
            <a:ext cx="338328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7512" y="2169027"/>
            <a:ext cx="73152" cy="388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2278755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60123"/>
            <a:ext cx="303580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 and memory demand vary over time.
Static allocation can leave resources idle or insufficient.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69027"/>
            <a:ext cx="338328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89120" y="2169027"/>
            <a:ext cx="73152" cy="3886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278755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OVER-PROVISIONING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460123"/>
            <a:ext cx="30358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 many allocated resources can increase cost and create underutilized capacity.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2169027"/>
            <a:ext cx="338328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10728" y="2169027"/>
            <a:ext cx="73152" cy="3886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11896" y="2278755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UNDER-PROVISIONING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460123"/>
            <a:ext cx="30358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 few resources can lead to degraded performance and potential QoS/SLA problems.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01 Introduction: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70"/>
    </mc:Choice>
    <mc:Fallback xmlns="">
      <p:transition spd="slow" advTm="447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453388"/>
            <a:ext cx="12191695" cy="5404612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68722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forecasting is valuable for cloud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1859799"/>
            <a:ext cx="4389120" cy="2676353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2104" y="1842935"/>
            <a:ext cx="73152" cy="261137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96696" y="1927929"/>
            <a:ext cx="40690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REACTIVE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04936"/>
            <a:ext cx="40416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Observe workload → detect threshold → scale
</a:t>
            </a:r>
            <a:r>
              <a:rPr sz="1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occurs after demand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7" y="3167391"/>
            <a:ext cx="850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859799"/>
            <a:ext cx="4389120" cy="276492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78040" y="1842935"/>
            <a:ext cx="73152" cy="267635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299960" y="1979435"/>
            <a:ext cx="40690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PROACTIVE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2899002"/>
            <a:ext cx="40416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Observe history → forecast future → prepare resources</a:t>
            </a:r>
            <a:endParaRPr lang="en-US" sz="2000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1000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can be made before demand arrives.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7" y="4919009"/>
            <a:ext cx="102412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78407" y="4919009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33855" y="5028738"/>
            <a:ext cx="9921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5" y="5394497"/>
            <a:ext cx="989380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accurate time-series forecasting improve the timing and quality of cloud resource allocation decisions?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01 Introduction: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43"/>
    </mc:Choice>
    <mc:Fallback xmlns="">
      <p:transition spd="slow" advTm="184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9131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additions of the </a:t>
            </a:r>
            <a:r>
              <a:rPr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58952" y="220294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58952" y="2202945"/>
            <a:ext cx="73152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2312672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Forecast-driven allocation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8432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Connects workload prediction with proactive resource provisioning.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20294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91072" y="2202945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92240" y="2312672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Pretrained foundation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8432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 Amazon Chronos rather than training a forecasting model entirely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52882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952" y="3528825"/>
            <a:ext cx="73152" cy="10515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3638553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Workload characterization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04313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 KPSS testing to examine non-stationarity in cloud CPU workloads.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352882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91072" y="3528825"/>
            <a:ext cx="73152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92240" y="3638553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Comparative 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04313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Benchmarks Chronos against ARIMA, LSTM and DeepAR.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85470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58952" y="4854705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60120" y="4964433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Cloud-oriented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330192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 AWS SageMaker as the experimental environment.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4705"/>
            <a:ext cx="52120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91072" y="4854705"/>
            <a:ext cx="73152" cy="10515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92240" y="4964433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Sustainability direction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30192"/>
            <a:ext cx="4864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Positions improved provisioning as a pathway toward more efficient cloud operation.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02 Literature Review: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98"/>
    </mc:Choice>
    <mc:Fallback xmlns="">
      <p:transition spd="slow" advTm="319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" y="1333691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 addressed by the experimental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9497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2294972"/>
            <a:ext cx="73152" cy="9326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404699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70459"/>
            <a:ext cx="4864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 future CPU utilization from historical VM workload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29497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2294972"/>
            <a:ext cx="73152" cy="9326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64807" y="2404699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770459"/>
            <a:ext cx="4864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Examine workload non-stationarity using the KPSS statistical test.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8369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31520" y="3483692"/>
            <a:ext cx="73152" cy="9326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2688" y="3593420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959180"/>
            <a:ext cx="4864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 Amazon Chronos for cloud resource-demand forecasting.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8369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3640" y="3483692"/>
            <a:ext cx="73152" cy="9326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64807" y="3593420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7" y="3959180"/>
            <a:ext cx="4864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Chronos with ARIMA, LSTM and DeepAR baseline models.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7241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31520" y="4672412"/>
            <a:ext cx="73152" cy="9326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32688" y="4782140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147900"/>
            <a:ext cx="4864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Measure forecasting quality using MAE, MSE and MAPE.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672412"/>
            <a:ext cx="5212080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63640" y="4672412"/>
            <a:ext cx="73152" cy="9326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64807" y="4782140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5147900"/>
            <a:ext cx="4864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computational efficiency using training and inference time.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02 Literature Review: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25"/>
    </mc:Choice>
    <mc:Fallback xmlns="">
      <p:transition spd="slow" advTm="172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Gap &amp;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69373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a new approach was investigated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12882"/>
            <a:ext cx="5257800" cy="4343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85800" y="1912882"/>
            <a:ext cx="73152" cy="4343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86968" y="2022610"/>
            <a:ext cx="493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" y="2615145"/>
            <a:ext cx="491032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Reactive threshold-based scaling responds after workload changes.
• Traditional statistical forecasting may struggle when workload assumptions are violated.
• Cloud workloads can be highly dynamic and non-stationary.
• Training deep learning models may introduce computational overhead.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12882"/>
            <a:ext cx="5257800" cy="4343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17920" y="1912882"/>
            <a:ext cx="73152" cy="4343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19088" y="2022610"/>
            <a:ext cx="493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PAPER'S RESPONSE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648311"/>
            <a:ext cx="4910328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Use a pretrained time-series model: Amazon Chronos.
• Evaluate on real VM workload traces.
• Compare against established forecasting baselines.
• Use forecasts as an input for proactive provisioning decisions.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02 Literature Review: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32"/>
    </mc:Choice>
    <mc:Fallback xmlns="">
      <p:transition spd="slow" advTm="223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66254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research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95728"/>
            <a:ext cx="13441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Collect VM traces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984" y="2385036"/>
            <a:ext cx="274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41448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441448" y="192024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642616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395728"/>
            <a:ext cx="13441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2385036"/>
            <a:ext cx="274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79976" y="192024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81144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395728"/>
            <a:ext cx="13441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KPSS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385036"/>
            <a:ext cx="274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8504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318504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19672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2395728"/>
            <a:ext cx="13441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 / configure models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2385036"/>
            <a:ext cx="274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57032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257032" y="192024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58200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2395728"/>
            <a:ext cx="13441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 CPU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2385036"/>
            <a:ext cx="274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5560" y="1920240"/>
            <a:ext cx="169164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0195560" y="192024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396728" y="2029968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96728" y="2395728"/>
            <a:ext cx="13441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 metrics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51960"/>
            <a:ext cx="1028700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14400" y="425196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15568" y="4361688"/>
            <a:ext cx="996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727448"/>
            <a:ext cx="99395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 accuracy + computational time → evidence for proactive resource-allocation decisions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90"/>
    </mc:Choice>
    <mc:Fallback xmlns="">
      <p:transition spd="slow" advTm="179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69767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Conceptual </a:t>
            </a:r>
            <a:r>
              <a:rPr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993392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2075688"/>
            <a:ext cx="16733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 Workload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700025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VM CPU utilization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27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39" y="1965960"/>
            <a:ext cx="1993392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4639" y="1965960"/>
            <a:ext cx="73152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035808" y="2075688"/>
            <a:ext cx="16733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2383" y="2700025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 and analyze time series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377440"/>
            <a:ext cx="27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6359" y="1965960"/>
            <a:ext cx="1993392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166359" y="1965960"/>
            <a:ext cx="73152" cy="1234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67527" y="2075688"/>
            <a:ext cx="16733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 Chronos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38" y="2697037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 future workload forecast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377440"/>
            <a:ext cx="27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965960"/>
            <a:ext cx="1993392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79" y="196596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699248" y="2075688"/>
            <a:ext cx="16733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4675" y="2697036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Provision / de-provision resources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2377440"/>
            <a:ext cx="27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9800" y="1965960"/>
            <a:ext cx="1993392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829800" y="1965960"/>
            <a:ext cx="73152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030968" y="2075688"/>
            <a:ext cx="17922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67815" y="2704844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VMs, servers and applications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069080"/>
            <a:ext cx="1024128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914400" y="4069080"/>
            <a:ext cx="73152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15568" y="4178808"/>
            <a:ext cx="992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FEEDBACK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544568"/>
            <a:ext cx="989380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Actual utilization becomes new historical input. The architecture repeatedly updates forecasts as new workload observations become available.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50"/>
    </mc:Choice>
    <mc:Fallback xmlns="">
      <p:transition spd="slow" advTm="2285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2CF1-70D5-600B-64F0-2978B8699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16CF02-8C9A-D172-2D40-9564D2DA769E}"/>
              </a:ext>
            </a:extLst>
          </p:cNvPr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D0831B80-824C-CCC0-61D0-9788285BB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364" y="1735586"/>
            <a:ext cx="8101783" cy="4324937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D5E4241E-EF7A-1D0A-AC8C-9F64F7CC690B}"/>
              </a:ext>
            </a:extLst>
          </p:cNvPr>
          <p:cNvSpPr txBox="1"/>
          <p:nvPr/>
        </p:nvSpPr>
        <p:spPr>
          <a:xfrm>
            <a:off x="3261207" y="6116487"/>
            <a:ext cx="566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1: Architecture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369767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Conceptual </a:t>
            </a:r>
            <a:r>
              <a:rPr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Audio 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976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95"/>
    </mc:Choice>
    <mc:Fallback xmlns="">
      <p:transition spd="slow" advTm="9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66254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Bitbrains</a:t>
            </a:r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GWA-T-12 cloud workload traces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11230"/>
            <a:ext cx="297180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85800" y="241123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86968" y="2520958"/>
            <a:ext cx="26517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8638"/>
            <a:ext cx="2624328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Bitbrains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GWA-T-12
</a:t>
            </a:r>
            <a:r>
              <a:rPr sz="12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1,750 virtual machines
</a:t>
            </a:r>
            <a:r>
              <a:rPr sz="105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range: 1 July 2013 – 1 October 2013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411230"/>
            <a:ext cx="338328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31920" y="2411230"/>
            <a:ext cx="73152" cy="3566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33087" y="2520958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 VARIABLES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6169" y="3471531"/>
            <a:ext cx="303580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CPU usage
• CPU provisioned
• CPU cores
• Memory usage
• Memory provisioned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411230"/>
            <a:ext cx="388620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9520" y="2411230"/>
            <a:ext cx="73152" cy="3566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90688" y="2520958"/>
            <a:ext cx="3566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IT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7472" y="3400502"/>
            <a:ext cx="35387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Comparing provisioned resources with actual utilization helps reveal changing demand and potential inefficiency in resource allocation.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1"/>
    </mc:Choice>
    <mc:Fallback xmlns="">
      <p:transition spd="slow" advTm="74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Algorithm: Amazon </a:t>
            </a:r>
            <a:r>
              <a:rPr sz="40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45148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High-level transformation from workload history to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5909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58952" y="2159097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226882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3458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Historical CPU values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15909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91072" y="2159097"/>
            <a:ext cx="73152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92240" y="226882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3458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Normalize / scale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39353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952" y="3393537"/>
            <a:ext cx="73152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350326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902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 numerical series into discrete representation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339353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91072" y="3393537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92240" y="350326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6902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Autoregressive sequence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627976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58952" y="4627976"/>
            <a:ext cx="73152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60120" y="473770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103464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 multiple forecast samples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627976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91072" y="4627976"/>
            <a:ext cx="73152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92240" y="4737705"/>
            <a:ext cx="4892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103464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 predictions back to CPU values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305" y="5933331"/>
            <a:ext cx="121916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 configuration highlighted in the paper: Chronos Tiny • 30 samples • prediction length = 30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64"/>
    </mc:Choice>
    <mc:Fallback xmlns="">
      <p:transition spd="slow" advTm="4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Equations &amp; Evaluation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30476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forecasting performance is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0308"/>
            <a:ext cx="3429000" cy="28112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58368" y="2370308"/>
            <a:ext cx="120244" cy="2811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9536" y="2480036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303277"/>
            <a:ext cx="30815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MAE = (1/n) Σ |yᵢ − ŷᵢ|
Interpretation:
Average magnitude of prediction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370308"/>
            <a:ext cx="3429000" cy="28112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407408" y="2370308"/>
            <a:ext cx="120244" cy="2811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08575" y="2480036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303277"/>
            <a:ext cx="30815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MSE = (1/n) Σ (yᵢ − ŷᵢ)²
Interpretation:
Penalizes larger errors more strongly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7" y="2370308"/>
            <a:ext cx="3429000" cy="28112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56447" y="2370308"/>
            <a:ext cx="120244" cy="2811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57616" y="2480036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3324296"/>
            <a:ext cx="30815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MAPE = (100/n) Σ |(yᵢ − ŷᵢ)/yᵢ|
Interpretation:
Average percentage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305" y="5606295"/>
            <a:ext cx="121916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Lower MAE, MSE and MAPE values indicate better forecasting accuracy.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03 Methodology: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2"/>
    </mc:Choice>
    <mc:Fallback xmlns="">
      <p:transition spd="slow" advTm="43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66254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Environment, forecasting task and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6084"/>
            <a:ext cx="333756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58368" y="2246084"/>
            <a:ext cx="73152" cy="388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9536" y="2355812"/>
            <a:ext cx="3017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COMPUTING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" y="3476645"/>
            <a:ext cx="29900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AWS </a:t>
            </a:r>
            <a:r>
              <a:rPr sz="24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SageMaker</a:t>
            </a:r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Notebook
CPU instance:
ml.t3.large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246084"/>
            <a:ext cx="333756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407408" y="2246084"/>
            <a:ext cx="73152" cy="3886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08575" y="2355812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971322"/>
            <a:ext cx="29900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 historical CPU utilization
Output: next 30 time steps
Forecast samples: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7" y="2246084"/>
            <a:ext cx="3337560" cy="3886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56447" y="2246084"/>
            <a:ext cx="73152" cy="3886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57616" y="2355812"/>
            <a:ext cx="3017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COMPARED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3333378"/>
            <a:ext cx="299008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ARIMA
• LSTM
• </a:t>
            </a:r>
            <a:r>
              <a:rPr sz="24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• Amazon </a:t>
            </a:r>
            <a:r>
              <a:rPr sz="24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sz="2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04 Result Analysis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"/>
    </mc:Choice>
    <mc:Fallback xmlns="">
      <p:transition spd="slow" advTm="26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Forecast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2717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Reported performance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07008" y="1823177"/>
            <a:ext cx="402336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207008" y="1823177"/>
            <a:ext cx="7315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08176" y="1932905"/>
            <a:ext cx="3703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823177"/>
            <a:ext cx="196596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230368" y="1823177"/>
            <a:ext cx="73152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31536" y="1932905"/>
            <a:ext cx="1645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MAE 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96328" y="1823177"/>
            <a:ext cx="196596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96328" y="1823177"/>
            <a:ext cx="73152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97496" y="1932905"/>
            <a:ext cx="1645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MSE 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62288" y="1823177"/>
            <a:ext cx="196596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62288" y="1823177"/>
            <a:ext cx="7315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363456" y="1932905"/>
            <a:ext cx="1645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MAPE 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07008" y="2554697"/>
            <a:ext cx="40233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207008" y="2554697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08176" y="2664425"/>
            <a:ext cx="3703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30368" y="2554697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230368" y="2554697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31536" y="2664425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13.825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96328" y="2554697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196328" y="2554697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397496" y="2664425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511.459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62288" y="2554697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162288" y="2554697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63456" y="2664425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19.616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07008" y="3249640"/>
            <a:ext cx="40233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207008" y="3249640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408176" y="3359368"/>
            <a:ext cx="3703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30368" y="3249640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230368" y="3249640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31536" y="3359368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8.217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96328" y="3249640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196328" y="3249640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397496" y="3359368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1728.004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2288" y="3249640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9162288" y="3249640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363456" y="3359368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24.550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07008" y="3944585"/>
            <a:ext cx="40233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207008" y="3944585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408176" y="4054313"/>
            <a:ext cx="3703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30368" y="3944585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5230368" y="3944585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431536" y="4054313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15.852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96328" y="3944585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196328" y="3944585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397496" y="4054313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230.884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62288" y="3944585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162288" y="3944585"/>
            <a:ext cx="73152" cy="5669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363456" y="4054313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7.550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07008" y="4639529"/>
            <a:ext cx="40233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207008" y="4639529"/>
            <a:ext cx="73152" cy="5669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408176" y="4749257"/>
            <a:ext cx="3703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 Chronos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230368" y="4639529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5230368" y="4639529"/>
            <a:ext cx="73152" cy="5669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431536" y="4749257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6.332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96328" y="4639529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96328" y="4639529"/>
            <a:ext cx="73152" cy="5669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397496" y="4749257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91.390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62288" y="4639529"/>
            <a:ext cx="19659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162288" y="4639529"/>
            <a:ext cx="73152" cy="5669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363456" y="4749257"/>
            <a:ext cx="1645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6.450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234440" y="5440680"/>
            <a:ext cx="9893808" cy="11155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234440" y="5440679"/>
            <a:ext cx="73152" cy="11218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435608" y="5550408"/>
            <a:ext cx="9418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RESULT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35608" y="5916168"/>
            <a:ext cx="9390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 achieved the lowest reported MAE, MSE and MAPE among the compared models.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04 Result Analysis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8"/>
    </mc:Choice>
    <mc:Fallback xmlns="">
      <p:transition spd="slow" advTm="3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Computational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69132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inference time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783080"/>
            <a:ext cx="2194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0129" y="1755419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INFERENCE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5608" y="2148840"/>
            <a:ext cx="274320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35608" y="2148840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36776" y="2258567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3128" y="214884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53128" y="2148840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54296" y="2258567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0.03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53528" y="214884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53528" y="2148840"/>
            <a:ext cx="7315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854696" y="2258567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0.012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35608" y="3017520"/>
            <a:ext cx="274320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435608" y="3017520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36776" y="3127248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53128" y="301752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453128" y="3017520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54296" y="312724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40.8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53528" y="301752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653528" y="3017520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854696" y="312724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35608" y="3886199"/>
            <a:ext cx="274320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435608" y="3886199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636776" y="3995928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53128" y="3886199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453128" y="3886199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654296" y="399592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562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53528" y="3886199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7653528" y="3886199"/>
            <a:ext cx="7315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854696" y="399592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1.7 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5608" y="4754880"/>
            <a:ext cx="274320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35608" y="475488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636776" y="4864608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53128" y="475488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453128" y="475488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654296" y="486460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324 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53528" y="4754880"/>
            <a:ext cx="292608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653528" y="4754880"/>
            <a:ext cx="7315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854696" y="486460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1.27 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5607" y="5630477"/>
            <a:ext cx="9792831" cy="722377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35608" y="5630478"/>
            <a:ext cx="91440" cy="75672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14856" y="5596128"/>
            <a:ext cx="75282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7048" y="5961888"/>
            <a:ext cx="97013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sz="16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trained faster than </a:t>
            </a:r>
            <a:r>
              <a:rPr sz="16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  <a:r>
              <a:rPr sz="16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the reported experiment while providing better overall forecasting accuracy.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04 Result Analysis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3"/>
    </mc:Choice>
    <mc:Fallback xmlns="">
      <p:transition spd="slow" advTm="2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16128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the experimental results indicate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" y="1621114"/>
            <a:ext cx="52120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78180" y="1621114"/>
            <a:ext cx="73152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79348" y="1661708"/>
            <a:ext cx="4892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endParaRPr sz="2400" b="1" dirty="0">
              <a:solidFill>
                <a:srgbClr val="16A34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9348" y="2038505"/>
            <a:ext cx="48646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Lowest MAE, MSE and MAPE → strongest overall forecasting performance.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621114"/>
            <a:ext cx="52120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10300" y="1621114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11467" y="1730842"/>
            <a:ext cx="4892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467" y="2096602"/>
            <a:ext cx="48646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Very fast, but higher forecast errors than Chronos.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" y="3449914"/>
            <a:ext cx="52120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78180" y="3449914"/>
            <a:ext cx="7315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9348" y="3559642"/>
            <a:ext cx="4892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348" y="3925402"/>
            <a:ext cx="48646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Competitive MAE but very high MSE and MAPE in the reported experiment.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449914"/>
            <a:ext cx="52120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0300" y="3449914"/>
            <a:ext cx="7315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11467" y="3559642"/>
            <a:ext cx="4892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1467" y="3925402"/>
            <a:ext cx="48646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Relatively strong percentage error, but highest reported training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1372" y="5246375"/>
            <a:ext cx="10351008" cy="112181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071371" y="5246375"/>
            <a:ext cx="82293" cy="11218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72540" y="5356104"/>
            <a:ext cx="9646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2539" y="5721864"/>
            <a:ext cx="100309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paper presents </a:t>
            </a:r>
            <a:r>
              <a:rPr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the best overall balance of forecast accuracy and computational practicality among the evaluated models.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04 Result Analysis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"/>
    </mc:Choice>
    <mc:Fallback xmlns="">
      <p:transition spd="slow" advTm="17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66870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Interpretation, practical relevance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026643"/>
            <a:ext cx="525780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58952" y="2026643"/>
            <a:ext cx="73152" cy="4297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2136371"/>
            <a:ext cx="49377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PRACTICAL SIGNIFICANCE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022978"/>
            <a:ext cx="491032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Forecasts can give cloud managers earlier signals about future demand.
• Proactive provisioning may reduce unnecessary resource allocation.
• </a:t>
            </a:r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Pretrained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forecasting models can simplify model adoption.
• Accurate predictions are only one part of a complete scaling 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026643"/>
            <a:ext cx="525780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91072" y="2026643"/>
            <a:ext cx="73152" cy="4297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92240" y="2136371"/>
            <a:ext cx="493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 /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781511"/>
            <a:ext cx="491032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The experiment focuses on forecasting performance.
• Energy or carbon reduction was not directly measured.
• Forecast quality does not automatically guarantee better allocation.
• Production deployment requires scaling policies and live operational validation.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05 Discussion and Conclusion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2"/>
    </mc:Choice>
    <mc:Fallback xmlns="">
      <p:transition spd="slow" advTm="17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4272" y="6918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68992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Central message of the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771965"/>
            <a:ext cx="39039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 first.
Allocate smarter.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8710" y="1203665"/>
            <a:ext cx="6767017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18711" y="1203665"/>
            <a:ext cx="73152" cy="1005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19877" y="1313393"/>
            <a:ext cx="635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 •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9877" y="1679153"/>
            <a:ext cx="63236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achieved the best reported error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8711" y="2516244"/>
            <a:ext cx="6767017" cy="1216361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618712" y="2516245"/>
            <a:ext cx="73152" cy="121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19878" y="2625973"/>
            <a:ext cx="635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 • PROACTIVITY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9878" y="2991733"/>
            <a:ext cx="63236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Forecasting provides a foundation for earlier resource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8710" y="3954572"/>
            <a:ext cx="6811290" cy="129844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618711" y="3954572"/>
            <a:ext cx="73152" cy="133197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19877" y="4064302"/>
            <a:ext cx="635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 • EFFICIENCY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9877" y="4430061"/>
            <a:ext cx="63236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Better allocation is positioned as a pathway toward more efficient cloud computing.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432123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paper demonstrates the value of </a:t>
            </a:r>
            <a:r>
              <a:rPr sz="20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pretrained</a:t>
            </a:r>
            <a:r>
              <a:rPr sz="2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time-series forecasting for proactive cloud resource management.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05 Discussion and Conclusion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7"/>
    </mc:Choice>
    <mc:Fallback xmlns="">
      <p:transition spd="slow" advTm="40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368551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 research directions identified by the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0859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58368" y="2308597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9536" y="2418324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84084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Hybrid machine-learning approaches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230859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90488" y="2308597"/>
            <a:ext cx="73152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91656" y="2418324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84084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Real-time cloud workload integration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4303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58368" y="3543037"/>
            <a:ext cx="73152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9536" y="3652765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1852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Larger Chronos model variants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543037"/>
            <a:ext cx="52120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90488" y="3543037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91656" y="3652765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01852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Generative AI-based simulations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77477"/>
            <a:ext cx="5212080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8368" y="4777477"/>
            <a:ext cx="82296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59536" y="4887205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5296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energy and carbon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777477"/>
            <a:ext cx="5212080" cy="1234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90488" y="4777477"/>
            <a:ext cx="73152" cy="1234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91656" y="4887205"/>
            <a:ext cx="4892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5252965"/>
            <a:ext cx="4864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and SLA-aware resource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05 Discussion and Conclusion 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0"/>
    </mc:Choice>
    <mc:Fallback xmlns="">
      <p:transition spd="slow" advTm="2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2467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sources for the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10789920" cy="35610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82296" cy="3561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4623" y="2415898"/>
            <a:ext cx="10442448" cy="3123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H. Wang, K. J. Mathews, M. </a:t>
            </a:r>
            <a:r>
              <a:rPr lang="en-US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Golec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et al.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Title: </a:t>
            </a:r>
            <a:r>
              <a:rPr lang="en-US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Volume: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107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Article: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77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Year: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Published: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February 18, 2025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DOI: </a:t>
            </a:r>
            <a:r>
              <a:rPr lang="en-US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10.1007/s00607-025-01435-w</a:t>
            </a:r>
            <a:endParaRPr b="0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06 Reference: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Audio 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1"/>
    </mc:Choice>
    <mc:Fallback xmlns="">
      <p:transition spd="slow" advTm="18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08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1973997"/>
            <a:ext cx="10698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995" y="3879896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760" y="5229402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Advanced Cloud Computing • Research Paper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pic>
        <p:nvPicPr>
          <p:cNvPr id="6" name="Audio 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 smtClean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0"/>
    </mc:Choice>
    <mc:Fallback xmlns="">
      <p:transition spd="slow" advTm="17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58368"/>
            <a:ext cx="10972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 smtClean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</a:t>
            </a:r>
            <a:endParaRPr sz="4000" b="1" dirty="0">
              <a:solidFill>
                <a:srgbClr val="142D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64240" y="347472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dirty="0" smtClean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b="1" dirty="0" smtClean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47421" y="1366254"/>
            <a:ext cx="10381411" cy="5120324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47421" y="1304699"/>
            <a:ext cx="82296" cy="51203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80160" y="1424798"/>
            <a:ext cx="978408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cloud computing? 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Briefly explain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major objectives of cloud resource management. 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[3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Marks]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over-provisioning and under-provisioning? Explain their effects on cloud applications. [4 Marks]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you mean by proactive resource allocation? Compare reactive and proactive resource allocation. [5 Marks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time-series forecasting? Explain the basic workflow of using historical CPU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utilization for future resource prediction. [4 Marks]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Amazon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Describe the main steps of its forecasting process with a suitable diagram. 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[6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Marks]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Define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MAE, MSE and MAPE with their equations. [4 Marks]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spcAft>
                <a:spcPts val="900"/>
              </a:spcAft>
              <a:buFont typeface="+mj-lt"/>
              <a:buAutoNum type="arabicParenR"/>
            </a:pP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Write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major findings of the forecasting experiment and explain how proactive resource allocation can support sustainable cloud computing. [4 Marks]</a:t>
            </a:r>
            <a:endParaRPr sz="2100" b="0" dirty="0">
              <a:solidFill>
                <a:srgbClr val="47556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74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Chapter </a:t>
            </a:r>
            <a:r>
              <a:rPr lang="en-US" sz="1400" b="1" dirty="0" smtClean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Question: </a:t>
            </a:r>
            <a:endParaRPr sz="1400" b="1" dirty="0">
              <a:solidFill>
                <a:srgbClr val="2563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411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1"/>
    </mc:Choice>
    <mc:Fallback xmlns="">
      <p:transition spd="slow" advTm="181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08" y="0"/>
            <a:ext cx="12191695" cy="68580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Google Shape;169;p13" descr="What is Programming?. Programming is a way for us to give… | by Rafay Syed  | The Startup | Medium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52973" y="385859"/>
            <a:ext cx="6644988" cy="418243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70;p13"/>
          <p:cNvSpPr txBox="1">
            <a:spLocks/>
          </p:cNvSpPr>
          <p:nvPr/>
        </p:nvSpPr>
        <p:spPr>
          <a:xfrm>
            <a:off x="-1" y="4099619"/>
            <a:ext cx="12191695" cy="1988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37150" tIns="68550" rIns="137150" bIns="68550" rtlCol="0" anchor="ctr" anchorCtr="0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4200"/>
            </a:pPr>
            <a:r>
              <a:rPr lang="en-US" sz="8400" b="1">
                <a:latin typeface="Times New Roman" panose="02020603050405020304" pitchFamily="18" charset="0"/>
                <a:ea typeface="Bookman Old Style"/>
                <a:cs typeface="Times New Roman" panose="02020603050405020304" pitchFamily="18" charset="0"/>
                <a:sym typeface="Bookman Old Style"/>
              </a:rPr>
              <a:t>Thank You</a:t>
            </a:r>
            <a:endParaRPr lang="en-US" sz="8400" b="1" dirty="0">
              <a:latin typeface="Times New Roman" panose="02020603050405020304" pitchFamily="18" charset="0"/>
              <a:ea typeface="Bookman Old Style"/>
              <a:cs typeface="Times New Roman" panose="02020603050405020304" pitchFamily="18" charset="0"/>
              <a:sym typeface="Bookman Old Style"/>
            </a:endParaRPr>
          </a:p>
        </p:txBody>
      </p:sp>
      <p:sp>
        <p:nvSpPr>
          <p:cNvPr id="13" name="Google Shape;172;p13"/>
          <p:cNvSpPr txBox="1"/>
          <p:nvPr/>
        </p:nvSpPr>
        <p:spPr>
          <a:xfrm>
            <a:off x="-1" y="5589201"/>
            <a:ext cx="12191695" cy="74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ctr" anchorCtr="0">
            <a:normAutofit/>
          </a:bodyPr>
          <a:lstStyle/>
          <a:p>
            <a:pPr algn="ctr">
              <a:lnSpc>
                <a:spcPct val="90000"/>
              </a:lnSpc>
              <a:buClr>
                <a:schemeClr val="dk1"/>
              </a:buClr>
              <a:buSzPts val="1400"/>
            </a:pPr>
            <a:r>
              <a:rPr lang="en" sz="2800" b="1" dirty="0">
                <a:solidFill>
                  <a:schemeClr val="dk1"/>
                </a:solidFill>
                <a:latin typeface="Times New Roman" panose="02020603050405020304" pitchFamily="18" charset="0"/>
                <a:ea typeface="Bookman Old Style"/>
                <a:cs typeface="Times New Roman" panose="02020603050405020304" pitchFamily="18" charset="0"/>
                <a:sym typeface="Bookman Old Style"/>
              </a:rPr>
              <a:t>Keep Learning, Keep Grinding</a:t>
            </a:r>
            <a:endParaRPr sz="2800" b="1" dirty="0">
              <a:solidFill>
                <a:schemeClr val="dk1"/>
              </a:solidFill>
              <a:latin typeface="Times New Roman" panose="02020603050405020304" pitchFamily="18" charset="0"/>
              <a:ea typeface="Bookman Old Style"/>
              <a:cs typeface="Times New Roman" panose="02020603050405020304" pitchFamily="18" charset="0"/>
              <a:sym typeface="Bookman Old Style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0" y="6548133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AmazonAICloud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Proactive Resource Allocation Using Amazon </a:t>
            </a:r>
            <a:r>
              <a:rPr lang="en-US" sz="1400" b="1" dirty="0" err="1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Chronos</a:t>
            </a:r>
            <a:r>
              <a:rPr lang="en-US" sz="1400" b="1" dirty="0">
                <a:solidFill>
                  <a:srgbClr val="142D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Based Time Series Model for Sustainable Cloud Computing</a:t>
            </a: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30000" y="6096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664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4"/>
    </mc:Choice>
    <mc:Fallback xmlns="">
      <p:transition spd="slow" advTm="101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3845</Words>
  <Application>Microsoft Office PowerPoint</Application>
  <PresentationFormat>Widescreen</PresentationFormat>
  <Paragraphs>543</Paragraphs>
  <Slides>25</Slides>
  <Notes>25</Notes>
  <HiddenSlides>0</HiddenSlides>
  <MMClips>24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User</dc:creator>
  <cp:keywords/>
  <dc:description>generated using python-pptx</dc:description>
  <cp:lastModifiedBy>Dulal</cp:lastModifiedBy>
  <cp:revision>31</cp:revision>
  <dcterms:created xsi:type="dcterms:W3CDTF">2013-01-27T09:14:16Z</dcterms:created>
  <dcterms:modified xsi:type="dcterms:W3CDTF">2026-09-18T02:55:28Z</dcterms:modified>
  <cp:category/>
</cp:coreProperties>
</file>